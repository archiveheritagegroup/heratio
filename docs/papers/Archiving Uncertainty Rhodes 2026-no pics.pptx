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notesMaster" Target="notesMasters/notesMaster1.xml" /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 with the core claim: in a post-truth era, archives keep trust by showing their working, not by asserting neutrality. ~30 minutes, leave 5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Define the term clearly here - it is the spine of the whole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three cases map to method, authority, and time. Each depends on a kind of infrastructure - that sets up the second half.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Heratio as a worked example of the argument, not a product pitch. One platform among the several the discipline will need.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Archiving Uncertainty: Toward Epistemic Transparency in Post-Truth Collections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Johannes Jurie Pieterse - The Archive and Heritage Group (Pty) Ltd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Rhodes University, Makhanda - 29 June 2026 (30-minute presentation)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Archiving Uncertainty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Toward Epistemic Transparency in Post-Truth Collections</a:t>
            </a:r>
          </a:p>
          <a:p>
            <a:pPr lvl="0" indent="0" marL="0">
              <a:buNone/>
            </a:pPr>
            <a:r>
              <a:rPr/>
              <a:t>Johannes Jurie Pieterse The Archive and Heritage Group (Pty) Ltd johan@theahg.co.za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post-truth condition: a crisis of trust, not of facts</a:t>
            </a:r>
          </a:p>
          <a:p>
            <a:pPr lvl="0"/>
            <a:r>
              <a:rPr/>
              <a:t>Epistemic transparency: the claim</a:t>
            </a:r>
          </a:p>
          <a:p>
            <a:pPr lvl="0"/>
            <a:r>
              <a:rPr/>
              <a:t>Why neutrality is not credibility</a:t>
            </a:r>
          </a:p>
          <a:p>
            <a:pPr lvl="0"/>
            <a:r>
              <a:rPr/>
              <a:t>Three cases: Bellingcat, SAADA, Wayback Machine</a:t>
            </a:r>
          </a:p>
          <a:p>
            <a:pPr lvl="0"/>
            <a:r>
              <a:rPr/>
              <a:t>The ethical limits of permanent memory</a:t>
            </a:r>
          </a:p>
          <a:p>
            <a:pPr lvl="0"/>
            <a:r>
              <a:rPr/>
              <a:t>Preserving disagreement; making AI contestable</a:t>
            </a:r>
          </a:p>
          <a:p>
            <a:pPr lvl="0"/>
            <a:r>
              <a:rPr/>
              <a:t>The infrastructural turn: who owns the means of description</a:t>
            </a:r>
          </a:p>
          <a:p>
            <a:pPr lvl="0"/>
            <a:r>
              <a:rPr/>
              <a:t>Heratio: a South African open-source instantiation</a:t>
            </a:r>
          </a:p>
          <a:p>
            <a:pPr lvl="0"/>
            <a:r>
              <a:rPr/>
              <a:t>Recommendations and conclusion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Post-Truth Condition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Not that people cannot tell true from false</a:t>
            </a:r>
          </a:p>
          <a:p>
            <a:pPr lvl="0"/>
            <a:r>
              <a:rPr/>
              <a:t>It is that the institutions that used to adjudicate are themselves contested</a:t>
            </a:r>
          </a:p>
          <a:p>
            <a:pPr lvl="0"/>
            <a:r>
              <a:rPr/>
              <a:t>Engagement-optimised feeds produce communities of belief, not of inquiry</a:t>
            </a:r>
          </a:p>
          <a:p>
            <a:pPr lvl="0" indent="0" marL="1270000">
              <a:buNone/>
            </a:pPr>
            <a:r>
              <a:rPr sz="2000"/>
              <a:t>An archive that says “this is what happened” - without saying how it knows - offers nothing the user cannot already doubt elsewhere.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Claim: Epistemic Transparency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Deliberately exposing how the archive decides:</a:t>
            </a:r>
          </a:p>
          <a:p>
            <a:pPr lvl="0"/>
            <a:r>
              <a:rPr/>
              <a:t>authenticity</a:t>
            </a:r>
          </a:p>
          <a:p>
            <a:pPr lvl="0"/>
            <a:r>
              <a:rPr/>
              <a:t>selection</a:t>
            </a:r>
          </a:p>
          <a:p>
            <a:pPr lvl="0"/>
            <a:r>
              <a:rPr/>
              <a:t>description</a:t>
            </a:r>
          </a:p>
          <a:p>
            <a:pPr lvl="0"/>
            <a:r>
              <a:rPr/>
              <a:t>doubt</a:t>
            </a:r>
          </a:p>
          <a:p>
            <a:pPr lvl="0" indent="0" marL="0">
              <a:buNone/>
            </a:pPr>
            <a:r>
              <a:rPr/>
              <a:t>Present the record </a:t>
            </a:r>
            <a:r>
              <a:rPr b="1"/>
              <a:t>together with the conditions of its production, description, and revision</a:t>
            </a:r>
            <a:r>
              <a:rPr/>
              <a:t>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Neutrality Is Not Credibility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Acquisition, appraisal, description, access - all are choices (Cook 2013; Harris 2002)</a:t>
            </a:r>
          </a:p>
          <a:p>
            <a:pPr lvl="0"/>
            <a:r>
              <a:rPr/>
              <a:t>Description is meaning-making: Ketelaar’s “tacit narratives” (2001)</a:t>
            </a:r>
          </a:p>
          <a:p>
            <a:pPr lvl="0"/>
            <a:r>
              <a:rPr/>
              <a:t>Credibility comes from exposing the mechanisms, not concealing them (Duff and Harris 2002)</a:t>
            </a:r>
          </a:p>
          <a:p>
            <a:pPr lvl="0" indent="0" marL="0">
              <a:buNone/>
            </a:pPr>
            <a:r>
              <a:rPr/>
              <a:t>Acknowledging interpretation is an ethical commitment, not a confession of failure.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Case 1: Bellingcat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Radical methodological transparency</a:t>
            </a:r>
          </a:p>
          <a:p>
            <a:pPr lvl="0"/>
            <a:r>
              <a:rPr/>
              <a:t>Every step documented: geolocation, image authentication, metadata, corroboration</a:t>
            </a:r>
          </a:p>
          <a:p>
            <a:pPr lvl="0"/>
            <a:r>
              <a:rPr/>
              <a:t>Readers can replicate or refute</a:t>
            </a:r>
          </a:p>
          <a:p>
            <a:pPr lvl="0"/>
            <a:r>
              <a:rPr/>
              <a:t>Transparency invites verification and accepts the risk of refutation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Case 2: SAADA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Distributed archival authority</a:t>
            </a:r>
          </a:p>
          <a:p>
            <a:pPr lvl="0"/>
            <a:r>
              <a:rPr/>
              <a:t>Communities document their own histories on their own terms</a:t>
            </a:r>
          </a:p>
          <a:p>
            <a:pPr lvl="0"/>
            <a:r>
              <a:rPr/>
              <a:t>Decentres the institutional archivist (Gilliland and Flinn 2013)</a:t>
            </a:r>
          </a:p>
          <a:p>
            <a:pPr lvl="0"/>
            <a:r>
              <a:rPr/>
              <a:t>Pluralism is a precondition of credibility, not a threat to it</a:t>
            </a:r>
          </a:p>
          <a:p>
            <a:pPr lvl="0" indent="0" marL="0">
              <a:buNone/>
            </a:pPr>
            <a:r>
              <a:rPr/>
              <a:t>Transparency about </a:t>
            </a:r>
            <a:r>
              <a:rPr i="1"/>
              <a:t>authority</a:t>
            </a:r>
            <a:r>
              <a:rPr/>
              <a:t>: who gets to say what the record means.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Case 3: The Wayback 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Revision as part of the record</a:t>
            </a:r>
          </a:p>
          <a:p>
            <a:pPr lvl="0"/>
            <a:r>
              <a:rPr/>
              <a:t>Preserves multiple temporal versions of web resources</a:t>
            </a:r>
          </a:p>
          <a:p>
            <a:pPr lvl="0"/>
            <a:r>
              <a:rPr/>
              <a:t>Documents change rather than asserting one snapshot</a:t>
            </a:r>
          </a:p>
          <a:p>
            <a:pPr lvl="0"/>
            <a:r>
              <a:rPr/>
              <a:t>Uncertainty and revision become evidence, not failures to hide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Ethical Limits of Permanent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Permanent records sustain accountability - and can extend harm indefinitely</a:t>
            </a:r>
          </a:p>
          <a:p>
            <a:pPr lvl="0"/>
            <a:r>
              <a:rPr/>
              <a:t>Doxing, revenge content, decontextualised resurfacing</a:t>
            </a:r>
          </a:p>
          <a:p>
            <a:pPr lvl="0"/>
            <a:r>
              <a:rPr/>
              <a:t>Transparency includes documenting what an archive chose </a:t>
            </a:r>
            <a:r>
              <a:rPr b="1"/>
              <a:t>not</a:t>
            </a:r>
            <a:r>
              <a:rPr/>
              <a:t> to keep, and why</a:t>
            </a:r>
          </a:p>
          <a:p>
            <a:pPr lvl="0"/>
            <a:r>
              <a:rPr/>
              <a:t>Accountable, selective forgetting is a legitimate boundary condition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Preserving Disagreement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Traditional description resolves uncertainty into a single authoritative voice</a:t>
            </a:r>
          </a:p>
          <a:p>
            <a:pPr lvl="0"/>
            <a:r>
              <a:rPr/>
              <a:t>The transparent archive preserves the dispute: corrections, retractions, competing reconstructions</a:t>
            </a:r>
          </a:p>
          <a:p>
            <a:pPr lvl="0"/>
            <a:r>
              <a:rPr/>
              <a:t>Linked data lets </a:t>
            </a:r>
            <a:r>
              <a:rPr b="1"/>
              <a:t>every assertion carry its own provenance</a:t>
            </a:r>
            <a:r>
              <a:rPr/>
              <a:t>: who, when, on what evidence, with what confidence</a:t>
            </a:r>
          </a:p>
          <a:p>
            <a:pPr lvl="0" indent="0" marL="0">
              <a:buNone/>
            </a:pPr>
            <a:r>
              <a:rPr/>
              <a:t>This is not relativism - the record of how understanding changed is itself historical evidence.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in the Archive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AI now automates appraisal, description, indexing at scale (Colavizza et al. 2021)</a:t>
            </a:r>
          </a:p>
          <a:p>
            <a:pPr lvl="0"/>
            <a:r>
              <a:rPr/>
              <a:t>If a machine contributed to a description, the user must </a:t>
            </a:r>
            <a:r>
              <a:rPr b="1"/>
              <a:t>see it, evaluate it, contest it</a:t>
            </a:r>
          </a:p>
          <a:p>
            <a:pPr lvl="0"/>
            <a:r>
              <a:rPr/>
              <a:t>Opaque AI = the assertion of an unnamed authority</a:t>
            </a:r>
          </a:p>
          <a:p>
            <a:pPr lvl="0"/>
            <a:r>
              <a:rPr/>
              <a:t>Explainability and auditability must be built in, not retrofitted (Mittelstadt et al. 2016)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Infrastructural 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cannot invite participation on infrastructure you do not control.</a:t>
            </a:r>
          </a:p>
          <a:p>
            <a:pPr lvl="0"/>
            <a:r>
              <a:rPr/>
              <a:t>Proprietary search appliance, offshore preservation, vendor-fixed schema</a:t>
            </a:r>
          </a:p>
          <a:p>
            <a:pPr lvl="0"/>
            <a:r>
              <a:rPr/>
              <a:t>Communities can contribute </a:t>
            </a:r>
            <a:r>
              <a:rPr i="1"/>
              <a:t>content</a:t>
            </a:r>
            <a:r>
              <a:rPr/>
              <a:t> but not the </a:t>
            </a:r>
            <a:r>
              <a:rPr i="1"/>
              <a:t>structures</a:t>
            </a:r>
            <a:r>
              <a:rPr/>
              <a:t> that hold it</a:t>
            </a:r>
          </a:p>
          <a:p>
            <a:pPr lvl="0"/>
            <a:r>
              <a:rPr/>
              <a:t>Participation requires owning the means of description - technically, not metaphorically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African Contexts: Dependency as Epistemic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Imported tooling, poorly fitted to local language, governance, retention</a:t>
            </a:r>
          </a:p>
          <a:p>
            <a:pPr lvl="0"/>
            <a:r>
              <a:rPr/>
              <a:t>Digital records inconsistently recognised as records at all (Ngoepe 2020)</a:t>
            </a:r>
          </a:p>
          <a:p>
            <a:pPr lvl="0"/>
            <a:r>
              <a:rPr/>
              <a:t>Infrastructure weakness, policy gaps, skills deficits (Mosweu, Luthuli and Mosweu 2019)</a:t>
            </a:r>
          </a:p>
          <a:p>
            <a:pPr lvl="0" indent="0" marL="0">
              <a:buNone/>
            </a:pPr>
            <a:r>
              <a:rPr/>
              <a:t>Where the infrastructure encodes assumptions made elsewhere, the record cannot represent the context it claims to document.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Heratio: A South African Open-Source Instantiation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Open-source archival platform, developed in South Africa</a:t>
            </a:r>
          </a:p>
          <a:p>
            <a:pPr lvl="0"/>
            <a:r>
              <a:rPr/>
              <a:t>Standards-based: ISAD(G), ISAAR-CPF, Records-in-Contexts (RiC-CM / RiC-O)</a:t>
            </a:r>
          </a:p>
          <a:p>
            <a:pPr lvl="0"/>
            <a:r>
              <a:rPr/>
              <a:t>Designed for in-country hosting and participatory metadata</a:t>
            </a:r>
          </a:p>
          <a:p>
            <a:pPr lvl="0" indent="0" marL="0">
              <a:buNone/>
            </a:pPr>
            <a:r>
              <a:rPr b="1"/>
              <a:t>Local custody need not mean local isolation.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Heratio Operationalises Transparency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Statement-level provenance:</a:t>
            </a:r>
            <a:r>
              <a:rPr/>
              <a:t> who asserted what, when, on what evidence; for AI, which model/version and confidence</a:t>
            </a:r>
          </a:p>
          <a:p>
            <a:pPr lvl="0"/>
            <a:r>
              <a:rPr b="1"/>
              <a:t>Human-in-the-loop AI:</a:t>
            </a:r>
            <a:r>
              <a:rPr/>
              <a:t> NER, condition assessment, semantic search, classification are decision-support; every accept/reject/edit is preserved</a:t>
            </a:r>
          </a:p>
          <a:p>
            <a:pPr lvl="0"/>
            <a:r>
              <a:rPr b="1"/>
              <a:t>Auditable AI gateway:</a:t>
            </a:r>
            <a:r>
              <a:rPr/>
              <a:t> every inference call is logged - visible and contestable, not a black box</a:t>
            </a:r>
          </a:p>
          <a:p>
            <a:pPr lvl="0"/>
            <a:r>
              <a:rPr b="1"/>
              <a:t>SHACL validation + RiC-O export:</a:t>
            </a:r>
            <a:r>
              <a:rPr/>
              <a:t> quality is held, and the graph (disagreements included) stays portable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It Demonstrates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mechanisms the paper argues for are achievable </a:t>
            </a:r>
            <a:r>
              <a:rPr b="1"/>
              <a:t>today</a:t>
            </a:r>
            <a:r>
              <a:rPr/>
              <a:t>, on infrastructure an African institution can own and govern:</a:t>
            </a:r>
          </a:p>
          <a:p>
            <a:pPr lvl="0"/>
            <a:r>
              <a:rPr/>
              <a:t>statement-level provenance</a:t>
            </a:r>
          </a:p>
          <a:p>
            <a:pPr lvl="0"/>
            <a:r>
              <a:rPr/>
              <a:t>visible, contestable AI contribution</a:t>
            </a:r>
          </a:p>
          <a:p>
            <a:pPr lvl="0"/>
            <a:r>
              <a:rPr/>
              <a:t>preserved disagreement</a:t>
            </a:r>
          </a:p>
          <a:p>
            <a:pPr lvl="0"/>
            <a:r>
              <a:rPr/>
              <a:t>custody of both the records and the systems that describe them</a:t>
            </a:r>
          </a:p>
          <a:p>
            <a:pPr lvl="0" indent="0" marL="0">
              <a:buNone/>
            </a:pPr>
            <a:r>
              <a:rPr/>
              <a:t>Epistemic transparency is an engineering reality, not only an ethical aspiration.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Adopt statement-level provenance in new systems</a:t>
            </a:r>
          </a:p>
          <a:p>
            <a:pPr lvl="0"/>
            <a:r>
              <a:rPr/>
              <a:t>Design interfaces that surface evidence, confidence, and uncertainty</a:t>
            </a:r>
          </a:p>
          <a:p>
            <a:pPr lvl="0"/>
            <a:r>
              <a:rPr/>
              <a:t>Treat AI as decision-support; record the human decision</a:t>
            </a:r>
          </a:p>
          <a:p>
            <a:pPr lvl="0"/>
            <a:r>
              <a:rPr/>
              <a:t>Own the infrastructure; favour open standards and local hosting</a:t>
            </a:r>
          </a:p>
          <a:p>
            <a:pPr lvl="0"/>
            <a:r>
              <a:rPr/>
              <a:t>Build community participation into the structures, not just the content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Move from the </a:t>
            </a:r>
            <a:r>
              <a:rPr i="1"/>
              <a:t>claim</a:t>
            </a:r>
            <a:r>
              <a:rPr/>
              <a:t> of neutrality to the </a:t>
            </a:r>
            <a:r>
              <a:rPr i="1"/>
              <a:t>practice</a:t>
            </a:r>
            <a:r>
              <a:rPr/>
              <a:t> of transparency</a:t>
            </a:r>
          </a:p>
          <a:p>
            <a:pPr lvl="0"/>
            <a:r>
              <a:rPr/>
              <a:t>The shift is conceptual </a:t>
            </a:r>
            <a:r>
              <a:rPr b="1"/>
              <a:t>and</a:t>
            </a:r>
            <a:r>
              <a:rPr/>
              <a:t> structural</a:t>
            </a:r>
          </a:p>
          <a:p>
            <a:pPr lvl="0"/>
            <a:r>
              <a:rPr/>
              <a:t>For African archives, owning open-source infrastructure is a condition of practising transparency at all</a:t>
            </a:r>
          </a:p>
          <a:p>
            <a:pPr lvl="0"/>
            <a:r>
              <a:rPr/>
              <a:t>Transparent archives offer intellectual humility: knowledge is constructed, situated, and revisable</a:t>
            </a:r>
          </a:p>
          <a:p>
            <a:pPr lvl="0" indent="0" marL="1270000">
              <a:buNone/>
            </a:pPr>
            <a:r>
              <a:rPr sz="2000"/>
              <a:t>Trustworthy not because they claim certainty, but because they refuse to.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Johannes Jurie Pieterse</a:t>
            </a:r>
            <a:r>
              <a:rPr/>
              <a:t> The Archive and Heritage Group (Pty) Ltd johan@theahg.co.za</a:t>
            </a:r>
          </a:p>
          <a:p>
            <a:pPr lvl="0" indent="0" marL="0">
              <a:buNone/>
            </a:pPr>
            <a:r>
              <a:rPr/>
              <a:t>Heratio (open source): https://github.com/ArchiveHeritageGroup/heratio</a:t>
            </a:r>
          </a:p>
          <a:p>
            <a:pPr lvl="0" indent="0" marL="0">
              <a:buNone/>
            </a:pPr>
            <a:r>
              <a:rPr i="1"/>
              <a:t>Questions and discussion welcome.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Colavizza, G., Blanke, T., Jeurgens, C. and Noordegraaf, J. (2021) ‘Archives and AI: an overview of current debates and future perspectives’, </a:t>
            </a:r>
            <a:r>
              <a:rPr i="1"/>
              <a:t>Journal on Computing and Cultural Heritage</a:t>
            </a:r>
            <a:r>
              <a:rPr/>
              <a:t>, 15(1), pp. 1-15.</a:t>
            </a:r>
          </a:p>
          <a:p>
            <a:pPr lvl="0"/>
            <a:r>
              <a:rPr/>
              <a:t>Cook, T. (2013) ‘Evidence, memory, identity, and community: four shifting archival paradigms’, </a:t>
            </a:r>
            <a:r>
              <a:rPr i="1"/>
              <a:t>Archival Science</a:t>
            </a:r>
            <a:r>
              <a:rPr/>
              <a:t>, 13(2-3), pp. 95-120.</a:t>
            </a:r>
          </a:p>
          <a:p>
            <a:pPr lvl="0"/>
            <a:r>
              <a:rPr/>
              <a:t>Duff, W. and Harris, V. (2002) ‘Stories and names: archival description as narrating records and constructing meanings’, </a:t>
            </a:r>
            <a:r>
              <a:rPr i="1"/>
              <a:t>Archival Science</a:t>
            </a:r>
            <a:r>
              <a:rPr/>
              <a:t>, 2(3-4), pp. 263-285.</a:t>
            </a:r>
          </a:p>
          <a:p>
            <a:pPr lvl="0"/>
            <a:r>
              <a:rPr/>
              <a:t>Gilliland, A. and Flinn, A. (2013) ‘Community archives: what are we really talking about?’, in Craven, L. (ed.) </a:t>
            </a:r>
            <a:r>
              <a:rPr i="1"/>
              <a:t>Archives and Recordkeeping: Theory into Practice</a:t>
            </a:r>
            <a:r>
              <a:rPr/>
              <a:t>. London: Facet, pp. 37-55.</a:t>
            </a:r>
          </a:p>
          <a:p>
            <a:pPr lvl="0"/>
            <a:r>
              <a:rPr/>
              <a:t>Harris, V. (2002) ‘The archival sliver: power, memory, and archives in South Africa’, </a:t>
            </a:r>
            <a:r>
              <a:rPr i="1"/>
              <a:t>Archival Science</a:t>
            </a:r>
            <a:r>
              <a:rPr/>
              <a:t>, 2(1-2), pp. 63-86.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Ketelaar, E. (2001) ‘Tacit narratives: the meanings of archives’, </a:t>
            </a:r>
            <a:r>
              <a:rPr i="1"/>
              <a:t>Archival Science</a:t>
            </a:r>
            <a:r>
              <a:rPr/>
              <a:t>, 1(2), pp. 131-141.</a:t>
            </a:r>
          </a:p>
          <a:p>
            <a:pPr lvl="0"/>
            <a:r>
              <a:rPr/>
              <a:t>Mittelstadt, B.D., Allo, P., Taddeo, M., Wachter, S. and Floridi, L. (2016) ‘The ethics of algorithms: mapping the debate’, </a:t>
            </a:r>
            <a:r>
              <a:rPr i="1"/>
              <a:t>Big Data &amp; Society</a:t>
            </a:r>
            <a:r>
              <a:rPr/>
              <a:t>, 3(2), pp. 1-21.</a:t>
            </a:r>
          </a:p>
          <a:p>
            <a:pPr lvl="0"/>
            <a:r>
              <a:rPr/>
              <a:t>Mosweu, T., Luthuli, L. and Mosweu, O. (2019) ‘Implications of cloud-computing services in records management in Africa’, </a:t>
            </a:r>
            <a:r>
              <a:rPr i="1"/>
              <a:t>South African Journal of Information Management</a:t>
            </a:r>
            <a:r>
              <a:rPr/>
              <a:t>, 21(1), a1069.</a:t>
            </a:r>
          </a:p>
          <a:p>
            <a:pPr lvl="0"/>
            <a:r>
              <a:rPr/>
              <a:t>Ngoepe, M. (2020) ‘Archives and recordkeeping in South Africa: moving towards a twenty-first century system’, </a:t>
            </a:r>
            <a:r>
              <a:rPr i="1"/>
              <a:t>Archives and Records</a:t>
            </a:r>
            <a:r>
              <a:rPr/>
              <a:t>, 41(3), pp. 308-325.</a:t>
            </a:r>
          </a:p>
          <a:p>
            <a:pPr lvl="0"/>
            <a:r>
              <a:rPr/>
              <a:t>Pieterse, J.J. (2026) </a:t>
            </a:r>
            <a:r>
              <a:rPr i="1"/>
              <a:t>Heratio: an open-source archival platform</a:t>
            </a:r>
            <a:r>
              <a:rPr/>
              <a:t> [software]. The Archive and Heritage Group (Pty) Ltd.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Archiving Uncertainty: Toward Epistemic Transparency in Post-Truth Collections</dc:title>
  <dc:creator>Johannes Jurie Pieterse - The Archive and Heritage Group (Pty) Ltd</dc:creator>
  <cp:keywords/>
  <dcterms:created xsi:type="dcterms:W3CDTF">2026-06-17T05:03:58Z</dcterms:created>
  <dcterms:modified xsi:type="dcterms:W3CDTF">2026-06-17T05:03:58Z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Rhodes University, Makhanda - 29 June 2026 (30-minute presentation)</vt:lpwstr>
  </property>
</Properties>
</file>